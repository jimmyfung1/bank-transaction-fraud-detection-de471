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12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1F1B8-8327-4BF0-BF05-D38BD55D82B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FD751-21B6-4A03-B722-77897AB4B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ca6d2a3e5d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ca6d2a3e5d_0_3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from Bill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Schmarzo’s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Machine Learning Canvas and Jasmine Vasandani’s Data Science Workflow Canvas for SWU</a:t>
            </a:r>
            <a:endParaRPr lang="en-US"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/>
              <a:t>https://towardsdatascience.com/a-data-science-workflow-canvas-to-kickstart-your-projects-db62556be4d0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/>
              <a:t>https://www.digitalistmag.com/cio-knowledge/2018/10/29/data-science-paint-by-numbers-with-hypothesis-development-canvas-06191989/</a:t>
            </a:r>
            <a:endParaRPr sz="800" dirty="0"/>
          </a:p>
        </p:txBody>
      </p:sp>
      <p:sp>
        <p:nvSpPr>
          <p:cNvPr id="273" name="Google Shape;273;gca6d2a3e5d_0_3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50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C53D-7EBC-5CE5-D08A-E782823B5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86453-40A2-9D28-8B75-B2AB49703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6A20-901D-A51A-AC0D-E0C76DD6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CBE68-0ED0-FE69-A971-3CF47F9D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9D7AF-B60C-A047-2F27-7A4A2347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8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0E4F-C2C4-A216-1667-087A032B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CA789-79E8-BD4C-3F0C-F9CF5D67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6D033-2CDE-CDCA-3691-33A9B6AF3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351AE-F643-397A-FF8D-1DABDC4C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C71C4-3C50-3E1F-E917-33127BFA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D5B1-8E34-7C0E-D219-E9E3DBFB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F7804-1157-0B32-DD7A-30CBD2316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C1CA-069B-B1A4-654F-7857A32D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8590-41EE-89CB-0CCE-1D46EAF3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B4F79-5168-B626-A9AD-1BC36640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5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E937-CBFA-DDD4-676A-27B16172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71C5-BFA8-FD09-EF41-5FF757F18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0A8A3-4398-F348-9B99-7F42ACA8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84C0F-3CD7-9680-C035-DF5B7F4F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CCB3D-FCB4-748B-4012-041B587C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9C0DB-1493-68D4-9D25-24170DFC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5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D70E-3643-F9FF-42B5-565D0C5F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8A603-151F-0CD7-7F91-1A7B9B752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F605A-77D8-6557-8515-02CD56A94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BE1DE-0944-1BE4-EAAC-BEDB88538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26F19-8B32-F1A2-1E5F-CE49462C1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BEA13-2F9F-2904-27F9-009BE3E2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E42DA-9CEC-0849-4B29-ADEEC1D0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91825-C43F-EF6C-8BF0-95533BF6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7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BD94-3CB5-D239-8C7C-2C67CFC8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571E1-C0D9-2446-3E6D-2A84DC4A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B9A85-9772-AC22-9B69-50B0C8A6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7032E-1DFE-1DA9-F4FF-9A2837CF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CAA61-3D3D-DCE5-1EEB-4ABC4E36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78ED4-B596-76D2-88AE-3A4571C5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981F-678A-0ABA-E345-12BC2F30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0BB3-15A4-8687-2259-C35B9E70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CD29A-2660-F375-2978-78EE94B8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1BEC8-A344-32F7-FE3B-F637859CD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018A7-E6F8-FD8D-CD4C-D12BB5DB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0EA91-9B9C-0335-6B6E-FFBFC165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8BA3-5F50-FC12-36B0-6EB61044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4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8669-D7F5-2CE8-B506-BA1F83EC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16985-873C-22C3-E2E5-7A736CB02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3D2E1-B5AE-A06B-98A9-0C240C75D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2F99A-8C1C-CA60-4F8A-D2EFC81E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0403A-F183-058E-F491-9E90F9F7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CA538-D400-4E04-3C62-16EB65E5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2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6825-119D-5A6A-E88D-D5489107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F5C5C-5036-BEE1-E707-2B88CBE57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F2578-AA6C-79B2-25AE-EE069396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BF24-7D18-9A72-87B4-1188A61E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78AB7-1601-0116-BE3B-7268BBDF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64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54A58-788A-BE0B-CC5B-3B7FB9B62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624D1-69D8-C7B6-573E-EE8D46065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6D62B-8BFD-85C0-999A-DC2D6F8E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2ECBB-94F4-075B-3904-431DAADE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C1262-1F4F-FE78-C18D-5A61C6DC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4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39811-E5ED-2C30-9852-06AEC580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79384-D803-27CC-D9B1-FF0C8EBDC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33D3C-3805-6B3D-BB29-7B4701399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F368F-1BAA-4507-AD9C-B99054D683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C098-CF97-1223-61DC-4E9F0F51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D2F5-9F3B-4D28-82B2-669E40C59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1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43816FC-5CD6-FD5B-63A9-1D020F34BB78}"/>
              </a:ext>
            </a:extLst>
          </p:cNvPr>
          <p:cNvGrpSpPr/>
          <p:nvPr/>
        </p:nvGrpSpPr>
        <p:grpSpPr>
          <a:xfrm>
            <a:off x="0" y="770117"/>
            <a:ext cx="3215995" cy="2901572"/>
            <a:chOff x="0" y="791289"/>
            <a:chExt cx="3222885" cy="2880400"/>
          </a:xfrm>
        </p:grpSpPr>
        <p:pic>
          <p:nvPicPr>
            <p:cNvPr id="275" name="Google Shape;27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18528" y="825888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42"/>
            <p:cNvSpPr/>
            <p:nvPr/>
          </p:nvSpPr>
          <p:spPr>
            <a:xfrm>
              <a:off x="0" y="791289"/>
              <a:ext cx="3222885" cy="2880400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>
                <a:buClr>
                  <a:srgbClr val="C00000"/>
                </a:buClr>
                <a:buSzPts val="1500"/>
              </a:pPr>
              <a:r>
                <a:rPr lang="en-GB" sz="1600" b="1" dirty="0">
                  <a:latin typeface="Calibri"/>
                  <a:ea typeface="Calibri"/>
                  <a:cs typeface="Calibri"/>
                  <a:sym typeface="Calibri"/>
                </a:rPr>
                <a:t>1. Problem Statement/Background</a:t>
              </a:r>
              <a:endParaRPr sz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E53A85-8627-D3E8-726E-0EC9E7AC2507}"/>
              </a:ext>
            </a:extLst>
          </p:cNvPr>
          <p:cNvGrpSpPr/>
          <p:nvPr/>
        </p:nvGrpSpPr>
        <p:grpSpPr>
          <a:xfrm>
            <a:off x="8916884" y="775666"/>
            <a:ext cx="3256264" cy="2894677"/>
            <a:chOff x="8916884" y="775666"/>
            <a:chExt cx="3256264" cy="2894677"/>
          </a:xfrm>
        </p:grpSpPr>
        <p:sp>
          <p:nvSpPr>
            <p:cNvPr id="278" name="Google Shape;278;p42"/>
            <p:cNvSpPr/>
            <p:nvPr/>
          </p:nvSpPr>
          <p:spPr>
            <a:xfrm>
              <a:off x="8916884" y="775666"/>
              <a:ext cx="3256264" cy="2894677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GB" sz="1600" b="1" dirty="0">
                  <a:latin typeface="Calibri"/>
                  <a:ea typeface="Calibri"/>
                  <a:cs typeface="Calibri"/>
                  <a:sym typeface="Calibri"/>
                </a:rPr>
                <a:t>4. Key Metrics/Attributes</a:t>
              </a:r>
              <a:endParaRPr sz="1200" dirty="0"/>
            </a:p>
            <a:p>
              <a:endParaRPr sz="14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2" name="Google Shape;282;p42" descr="Category:Disk &lt;strong&gt;icons&lt;/strong&gt;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19564" y="829143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3B8F1F-A002-8171-CA6A-4AF79C342C13}"/>
              </a:ext>
            </a:extLst>
          </p:cNvPr>
          <p:cNvGrpSpPr/>
          <p:nvPr/>
        </p:nvGrpSpPr>
        <p:grpSpPr>
          <a:xfrm>
            <a:off x="3210696" y="744392"/>
            <a:ext cx="1795161" cy="3016210"/>
            <a:chOff x="3210696" y="744392"/>
            <a:chExt cx="1795161" cy="30162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0E9028-A87B-A0C5-F19E-F1975E98CDD8}"/>
                </a:ext>
              </a:extLst>
            </p:cNvPr>
            <p:cNvSpPr txBox="1"/>
            <p:nvPr/>
          </p:nvSpPr>
          <p:spPr>
            <a:xfrm>
              <a:off x="3210696" y="744392"/>
              <a:ext cx="1783393" cy="3016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alibri"/>
                  <a:ea typeface="Calibri"/>
                  <a:cs typeface="Calibri"/>
                </a:rPr>
                <a:t>2. SMART Objectives/ Value Propositions</a:t>
              </a:r>
            </a:p>
            <a:p>
              <a:r>
                <a:rPr lang="th-TH" sz="1600" dirty="0">
                  <a:solidFill>
                    <a:srgbClr val="FF0000"/>
                  </a:solidFill>
                </a:rPr>
                <a:t>เป้าหมายหลัก</a:t>
              </a:r>
              <a:r>
                <a:rPr lang="th-TH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"ลดมูลค่าความเสียหายจากการ ฉ้อโกง (</a:t>
              </a:r>
              <a:r>
                <a:rPr lang="en-US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Financial Loss) </a:t>
              </a:r>
              <a:r>
                <a:rPr lang="th-TH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ลง อย่างน้อย 5% ภายใน 1 ไตรมาส โดยควบคุมอัตราการระงับ ธุรกรรมผิดพลาด (</a:t>
              </a:r>
              <a:r>
                <a:rPr lang="en-US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False Positive Rate) </a:t>
              </a:r>
              <a:r>
                <a:rPr lang="th-TH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ให้ไม่เกิน 1% ด้วยการพัฒนาระบบ วิเคราะห์พฤติกรรมธุรกรรมแบบ </a:t>
              </a:r>
              <a:r>
                <a:rPr lang="en-US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Real-time </a:t>
              </a:r>
              <a:r>
                <a:rPr lang="th-TH" sz="1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เพื่อรักษาความ เชื่อมั่นของลูกค้า" </a:t>
              </a:r>
              <a:endParaRPr lang="en-US" sz="1400" b="1" dirty="0">
                <a:latin typeface="Angsana New" panose="02020603050405020304" pitchFamily="18" charset="-34"/>
                <a:ea typeface="Calibri"/>
                <a:cs typeface="Angsana New" panose="02020603050405020304" pitchFamily="18" charset="-34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198470-A47A-B930-1351-8D9A5EF47751}"/>
                </a:ext>
              </a:extLst>
            </p:cNvPr>
            <p:cNvGrpSpPr/>
            <p:nvPr/>
          </p:nvGrpSpPr>
          <p:grpSpPr>
            <a:xfrm>
              <a:off x="3222464" y="770117"/>
              <a:ext cx="1783393" cy="2901572"/>
              <a:chOff x="3222464" y="791289"/>
              <a:chExt cx="2014333" cy="2880400"/>
            </a:xfrm>
          </p:grpSpPr>
          <p:pic>
            <p:nvPicPr>
              <p:cNvPr id="283" name="Google Shape;283;p42" descr="exzuberant: SBAR with light bulbs and spanners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027335" y="852420"/>
                <a:ext cx="182880" cy="1828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9" name="Google Shape;279;p42"/>
              <p:cNvSpPr/>
              <p:nvPr/>
            </p:nvSpPr>
            <p:spPr>
              <a:xfrm>
                <a:off x="3222464" y="791289"/>
                <a:ext cx="2014333" cy="2880400"/>
              </a:xfrm>
              <a:prstGeom prst="rect">
                <a:avLst/>
              </a:prstGeom>
              <a:noFill/>
              <a:ln w="12700" cap="flat" cmpd="sng">
                <a:solidFill>
                  <a:srgbClr val="A5A5A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33" tIns="45700" rIns="91433" bIns="45700" anchor="t" anchorCtr="0">
                <a:noAutofit/>
              </a:bodyPr>
              <a:lstStyle/>
              <a:p>
                <a:pPr>
                  <a:buClr>
                    <a:schemeClr val="dk1"/>
                  </a:buClr>
                </a:pPr>
                <a:endParaRPr sz="1467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>
                  <a:buClr>
                    <a:schemeClr val="dk1"/>
                  </a:buClr>
                </a:pPr>
                <a:endParaRPr sz="1467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>
                  <a:buClr>
                    <a:schemeClr val="dk1"/>
                  </a:buClr>
                </a:pPr>
                <a:endParaRPr sz="1467" dirty="0">
                  <a:solidFill>
                    <a:srgbClr val="A5A5A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8F9CE2-F662-34C7-8133-5A15F52B30C2}"/>
              </a:ext>
            </a:extLst>
          </p:cNvPr>
          <p:cNvGrpSpPr/>
          <p:nvPr/>
        </p:nvGrpSpPr>
        <p:grpSpPr>
          <a:xfrm>
            <a:off x="5005857" y="775666"/>
            <a:ext cx="3911025" cy="2894679"/>
            <a:chOff x="5257853" y="775666"/>
            <a:chExt cx="3659030" cy="2894679"/>
          </a:xfrm>
        </p:grpSpPr>
        <p:sp>
          <p:nvSpPr>
            <p:cNvPr id="276" name="Google Shape;276;p42"/>
            <p:cNvSpPr/>
            <p:nvPr/>
          </p:nvSpPr>
          <p:spPr>
            <a:xfrm>
              <a:off x="5257853" y="775666"/>
              <a:ext cx="3659030" cy="2894679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1600" b="1" dirty="0">
                  <a:latin typeface="Calibri"/>
                  <a:ea typeface="Calibri"/>
                  <a:cs typeface="Calibri"/>
                  <a:sym typeface="Calibri"/>
                </a:rPr>
                <a:t>3. Questions/Hypothesis</a:t>
              </a:r>
              <a:endParaRPr lang="en-US" sz="1600" dirty="0"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Clr>
                  <a:schemeClr val="dk1"/>
                </a:buClr>
              </a:pPr>
              <a:endParaRPr sz="1467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4" name="Google Shape;284;p42" descr="File:&lt;strong&gt;Icon&lt;/strong&gt;-round-&lt;strong&gt;Question&lt;/strong&gt; mark.svg - Wikipedia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07904" y="863571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5" name="Google Shape;285;p42"/>
          <p:cNvSpPr/>
          <p:nvPr/>
        </p:nvSpPr>
        <p:spPr>
          <a:xfrm>
            <a:off x="0" y="378217"/>
            <a:ext cx="12192000" cy="397827"/>
          </a:xfrm>
          <a:prstGeom prst="rect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Title: 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2"/>
          <p:cNvSpPr/>
          <p:nvPr/>
        </p:nvSpPr>
        <p:spPr>
          <a:xfrm>
            <a:off x="4404852" y="58619"/>
            <a:ext cx="6997470" cy="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Designed by: </a:t>
            </a:r>
            <a:r>
              <a:rPr lang="th-TH" dirty="0"/>
              <a:t> </a:t>
            </a:r>
            <a:r>
              <a:rPr lang="th-TH" b="1" dirty="0"/>
              <a:t>ศุภวิชญ์ 187,ปุญญพัฒน์ 176,ศิวกร 253 </a:t>
            </a:r>
            <a:r>
              <a:rPr lang="en-GB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		         Date:</a:t>
            </a:r>
            <a:endParaRPr sz="16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2"/>
          <p:cNvSpPr txBox="1"/>
          <p:nvPr/>
        </p:nvSpPr>
        <p:spPr>
          <a:xfrm>
            <a:off x="138751" y="6570151"/>
            <a:ext cx="8818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from Bill </a:t>
            </a:r>
            <a:r>
              <a:rPr lang="en-GB" sz="10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Schmarzo’s</a:t>
            </a:r>
            <a:r>
              <a:rPr lang="en-GB"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Machine Learning Canvas and Jasmine Vasandani’s Data Science Workflow Canvas for SWU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18EF62-C056-CC79-6984-6DDC1E67A512}"/>
              </a:ext>
            </a:extLst>
          </p:cNvPr>
          <p:cNvGrpSpPr/>
          <p:nvPr/>
        </p:nvGrpSpPr>
        <p:grpSpPr>
          <a:xfrm>
            <a:off x="7934" y="3654439"/>
            <a:ext cx="3614792" cy="2927296"/>
            <a:chOff x="1" y="3670346"/>
            <a:chExt cx="3614792" cy="2927296"/>
          </a:xfrm>
        </p:grpSpPr>
        <p:pic>
          <p:nvPicPr>
            <p:cNvPr id="280" name="Google Shape;280;p42" descr="Wikipedia:WikiProject Medicine - Wikipedia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397608" y="3716993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42"/>
            <p:cNvSpPr/>
            <p:nvPr/>
          </p:nvSpPr>
          <p:spPr>
            <a:xfrm>
              <a:off x="1" y="3670346"/>
              <a:ext cx="3614792" cy="2927296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600" b="1" dirty="0">
                  <a:latin typeface="Calibri"/>
                  <a:ea typeface="Calibri"/>
                  <a:cs typeface="Calibri"/>
                  <a:sym typeface="Calibri"/>
                </a:rPr>
                <a:t>5. Analysis/Model</a:t>
              </a:r>
            </a:p>
            <a:p>
              <a:endParaRPr sz="1200" dirty="0"/>
            </a:p>
            <a:p>
              <a:endParaRPr sz="1467" dirty="0"/>
            </a:p>
            <a:p>
              <a:endParaRPr sz="14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45C173A-1330-6D57-567E-46C8A8FEFF56}"/>
              </a:ext>
            </a:extLst>
          </p:cNvPr>
          <p:cNvGrpSpPr/>
          <p:nvPr/>
        </p:nvGrpSpPr>
        <p:grpSpPr>
          <a:xfrm>
            <a:off x="8688186" y="3670344"/>
            <a:ext cx="3491428" cy="2927296"/>
            <a:chOff x="8923350" y="3670344"/>
            <a:chExt cx="3256264" cy="2927296"/>
          </a:xfrm>
        </p:grpSpPr>
        <p:pic>
          <p:nvPicPr>
            <p:cNvPr id="281" name="Google Shape;281;p42" descr="File:TK archive &lt;strong&gt;icon&lt;/strong&gt;.svg - Wikimedia Common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938539" y="3734134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42"/>
            <p:cNvSpPr/>
            <p:nvPr/>
          </p:nvSpPr>
          <p:spPr>
            <a:xfrm>
              <a:off x="8923350" y="3670344"/>
              <a:ext cx="3256264" cy="2927296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400" b="1" dirty="0">
                  <a:latin typeface="Calibri"/>
                  <a:ea typeface="Calibri"/>
                  <a:cs typeface="Calibri"/>
                  <a:sym typeface="Calibri"/>
                </a:rPr>
                <a:t>7. Recommendation/Action and Impact</a:t>
              </a:r>
              <a:endParaRPr sz="1400" dirty="0"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Clr>
                  <a:schemeClr val="dk1"/>
                </a:buClr>
              </a:pPr>
              <a:endParaRPr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3750C5-18DA-C00F-0E6D-138ABD676247}"/>
              </a:ext>
            </a:extLst>
          </p:cNvPr>
          <p:cNvGrpSpPr/>
          <p:nvPr/>
        </p:nvGrpSpPr>
        <p:grpSpPr>
          <a:xfrm>
            <a:off x="3614794" y="3670345"/>
            <a:ext cx="5073392" cy="2927296"/>
            <a:chOff x="3614793" y="3670345"/>
            <a:chExt cx="5302090" cy="2927296"/>
          </a:xfrm>
        </p:grpSpPr>
        <p:sp>
          <p:nvSpPr>
            <p:cNvPr id="2" name="Google Shape;290;p42">
              <a:extLst>
                <a:ext uri="{FF2B5EF4-FFF2-40B4-BE49-F238E27FC236}">
                  <a16:creationId xmlns:a16="http://schemas.microsoft.com/office/drawing/2014/main" id="{B820ACFC-D77A-80E9-88D7-A6A95A43AC44}"/>
                </a:ext>
              </a:extLst>
            </p:cNvPr>
            <p:cNvSpPr/>
            <p:nvPr/>
          </p:nvSpPr>
          <p:spPr>
            <a:xfrm>
              <a:off x="3614793" y="3670345"/>
              <a:ext cx="5302090" cy="2927296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600" b="1" dirty="0">
                  <a:latin typeface="Calibri"/>
                  <a:ea typeface="Calibri"/>
                  <a:cs typeface="Calibri"/>
                  <a:sym typeface="Calibri"/>
                </a:rPr>
                <a:t>6. </a:t>
              </a:r>
              <a:r>
                <a:rPr lang="en-US" sz="1600" b="1" dirty="0">
                  <a:latin typeface="Calibri"/>
                  <a:ea typeface="Calibri"/>
                  <a:cs typeface="Calibri"/>
                  <a:sym typeface="Calibri"/>
                </a:rPr>
                <a:t>Findings and Insights</a:t>
              </a:r>
              <a:endParaRPr sz="1467" dirty="0"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Clr>
                  <a:schemeClr val="dk1"/>
                </a:buClr>
              </a:pPr>
              <a:endParaRPr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" name="Graphic 9" descr="Treasure Map outline">
              <a:extLst>
                <a:ext uri="{FF2B5EF4-FFF2-40B4-BE49-F238E27FC236}">
                  <a16:creationId xmlns:a16="http://schemas.microsoft.com/office/drawing/2014/main" id="{6ED301FD-66E9-F0C8-0988-2E9AAC6AC8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82275" y="3716993"/>
              <a:ext cx="182880" cy="182880"/>
            </a:xfrm>
            <a:prstGeom prst="rect">
              <a:avLst/>
            </a:prstGeom>
          </p:spPr>
        </p:pic>
      </p:grpSp>
      <p:sp>
        <p:nvSpPr>
          <p:cNvPr id="12" name="Google Shape;286;p42">
            <a:extLst>
              <a:ext uri="{FF2B5EF4-FFF2-40B4-BE49-F238E27FC236}">
                <a16:creationId xmlns:a16="http://schemas.microsoft.com/office/drawing/2014/main" id="{4B1C38AE-384F-232F-C3A0-EC35AFAAFBC9}"/>
              </a:ext>
            </a:extLst>
          </p:cNvPr>
          <p:cNvSpPr/>
          <p:nvPr/>
        </p:nvSpPr>
        <p:spPr>
          <a:xfrm>
            <a:off x="0" y="-11236"/>
            <a:ext cx="4107305" cy="313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ANALYTICS PROJECT CANVAS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07E251-9528-DBBF-C139-D5BC76A4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5" y="1097518"/>
            <a:ext cx="31945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h-TH" sz="1400" b="1" dirty="0">
                <a:solidFill>
                  <a:srgbClr val="FF0000"/>
                </a:solidFill>
                <a:cs typeface="+mj-cs"/>
              </a:rPr>
              <a:t>ปัญหาและสถานการณ์ปัจจุบัน:</a:t>
            </a:r>
            <a:r>
              <a:rPr lang="th-TH" sz="1400" dirty="0">
                <a:solidFill>
                  <a:srgbClr val="FF0000"/>
                </a:solidFill>
                <a:cs typeface="+mj-cs"/>
              </a:rPr>
              <a:t> </a:t>
            </a:r>
            <a:r>
              <a:rPr lang="th-TH" sz="1400" dirty="0">
                <a:cs typeface="+mj-cs"/>
              </a:rPr>
              <a:t>ธนาคารเผชิญกับภัยคุกคามจากอาชญากรรมทางการเงินในรูปแบบ </a:t>
            </a:r>
            <a:r>
              <a:rPr lang="en-US" sz="1400" dirty="0">
                <a:cs typeface="+mj-cs"/>
              </a:rPr>
              <a:t>APP Fraud (Authorized Push Payment) </a:t>
            </a:r>
            <a:r>
              <a:rPr lang="th-TH" sz="1400" dirty="0">
                <a:cs typeface="+mj-cs"/>
              </a:rPr>
              <a:t>ซึ่งผู้ทุจริตใช้ "บัญชีม้า (</a:t>
            </a:r>
            <a:r>
              <a:rPr lang="en-US" sz="1400" dirty="0">
                <a:cs typeface="+mj-cs"/>
              </a:rPr>
              <a:t>Mule Accounts)" </a:t>
            </a:r>
            <a:r>
              <a:rPr lang="th-TH" sz="1400" dirty="0">
                <a:cs typeface="+mj-cs"/>
              </a:rPr>
              <a:t>เป็นช่องทางในการรับและโอนเงินที่ได้จากการหลอกลวง ก่อให้เกิดความสูญเสียทางการเงินและผลกระทบด้าน </a:t>
            </a:r>
            <a:r>
              <a:rPr lang="en-US" sz="1400" dirty="0">
                <a:cs typeface="+mj-cs"/>
              </a:rPr>
              <a:t>AML Compliance</a:t>
            </a:r>
          </a:p>
          <a:p>
            <a:r>
              <a:rPr lang="th-TH" sz="1400" b="1" dirty="0">
                <a:cs typeface="+mj-cs"/>
              </a:rPr>
              <a:t>ประเด็นหลัก:</a:t>
            </a:r>
            <a:r>
              <a:rPr lang="th-TH" sz="1400" dirty="0">
                <a:cs typeface="+mj-cs"/>
              </a:rPr>
              <a:t> บัญชีม้าถูกออกแบบมาให้ดูเหมือนบัญชีปกติ ทำให้ระบบตรวจจับแบบเดิมไม่สามารถแยกแยะได้ จำเป็นต้องวิเคราะห์ "พฤติกรรมธุรกรรม (</a:t>
            </a:r>
            <a:r>
              <a:rPr lang="en-US" sz="1400" dirty="0">
                <a:cs typeface="+mj-cs"/>
              </a:rPr>
              <a:t>Behavioral Pattern)" </a:t>
            </a:r>
            <a:r>
              <a:rPr lang="th-TH" sz="1400" dirty="0">
                <a:cs typeface="+mj-cs"/>
              </a:rPr>
              <a:t>เพื่อระบุและระงับความเสียหายได้ทันท่วงที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4BD1409-1E55-4871-ED5F-75F21F00A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558" y="1061079"/>
            <a:ext cx="38146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Who: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ใครคือกลุ่มบัญชีต้องสงสัยที่เข้าข่ายเป็นบัญชีม้า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?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What: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</a:t>
            </a:r>
            <a:r>
              <a:rPr lang="en-US" sz="1200" dirty="0"/>
              <a:t>What: </a:t>
            </a:r>
            <a:r>
              <a:rPr lang="th-TH" sz="1200" dirty="0"/>
              <a:t>พฤติกรรมอะไรที่แยกบัญชีม้าออกจากคนปกติ? (สมมติฐาน: </a:t>
            </a:r>
            <a:r>
              <a:rPr lang="en-US" sz="1200" dirty="0"/>
              <a:t>Mule </a:t>
            </a:r>
            <a:r>
              <a:rPr lang="th-TH" sz="1200" dirty="0"/>
              <a:t>จะเน้นใช้ </a:t>
            </a:r>
            <a:r>
              <a:rPr lang="en-US" sz="1200" dirty="0"/>
              <a:t>Transaction Type </a:t>
            </a:r>
            <a:r>
              <a:rPr lang="th-TH" sz="1200" dirty="0"/>
              <a:t>แบบ </a:t>
            </a:r>
            <a:r>
              <a:rPr lang="en-US" sz="1200" dirty="0"/>
              <a:t>Transfer </a:t>
            </a:r>
            <a:r>
              <a:rPr lang="th-TH" sz="1200" dirty="0"/>
              <a:t>และ </a:t>
            </a:r>
            <a:r>
              <a:rPr lang="en-US" sz="1200" dirty="0"/>
              <a:t>Bill Payment </a:t>
            </a:r>
            <a:r>
              <a:rPr lang="th-TH" sz="1200" dirty="0"/>
              <a:t>มากกว่า </a:t>
            </a:r>
            <a:r>
              <a:rPr lang="en-US" sz="1200" dirty="0"/>
              <a:t>Type </a:t>
            </a:r>
            <a:r>
              <a:rPr lang="th-TH" sz="1200" dirty="0"/>
              <a:t>อื่น คิดเป็นสัดส่วนสูงกว่า </a:t>
            </a:r>
            <a:r>
              <a:rPr lang="en-US" sz="1200" dirty="0"/>
              <a:t>Normal </a:t>
            </a:r>
            <a:r>
              <a:rPr lang="th-TH" sz="1200" dirty="0"/>
              <a:t>อย่างเห็นได้ชัด)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Where: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ภูมิภาคไหนคือจุดหมายปลายทางของการโอนเงินผิดปกติ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?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When: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ธุรกรรมเหล่านี้มักเกิดขึ้นเมื่อไหร่ และมีจังหวะความเร็ว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(Velocity) 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อย่างไร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?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</a:t>
            </a:r>
            <a:r>
              <a:rPr kumimoji="0" lang="th-TH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ทำไมเราต้องแก้ปัญหานี้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?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th-TH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เพื่อป้องกันเม็ดเงินจำนวนมหาศาลไหลออกไปยังพื้นที่เสี่ยง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b="1" dirty="0">
                <a:solidFill>
                  <a:srgbClr val="FF0000"/>
                </a:solidFill>
                <a:cs typeface="+mj-cs"/>
              </a:rPr>
              <a:t>How:</a:t>
            </a:r>
            <a:r>
              <a:rPr lang="en-US" sz="1200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sz="1200" dirty="0">
                <a:cs typeface="+mj-cs"/>
              </a:rPr>
              <a:t>Mule </a:t>
            </a:r>
            <a:r>
              <a:rPr lang="th-TH" sz="1200" dirty="0">
                <a:cs typeface="+mj-cs"/>
              </a:rPr>
              <a:t>โอนเงินแตกต่างจากปกติอย่างไร? → </a:t>
            </a:r>
            <a:r>
              <a:rPr lang="th-TH" sz="1200" i="1" dirty="0">
                <a:cs typeface="+mj-cs"/>
              </a:rPr>
              <a:t>สมมติฐาน: </a:t>
            </a:r>
            <a:r>
              <a:rPr lang="en-US" sz="1200" dirty="0">
                <a:cs typeface="+mj-cs"/>
              </a:rPr>
              <a:t>Amount median </a:t>
            </a:r>
            <a:r>
              <a:rPr lang="th-TH" sz="1200" dirty="0">
                <a:cs typeface="+mj-cs"/>
              </a:rPr>
              <a:t>ของ </a:t>
            </a:r>
            <a:r>
              <a:rPr lang="en-US" sz="1200" dirty="0">
                <a:cs typeface="+mj-cs"/>
              </a:rPr>
              <a:t>Mule ($618.89) ≈ Normal ($627.33) — Mule </a:t>
            </a:r>
            <a:r>
              <a:rPr lang="th-TH" sz="1200" dirty="0">
                <a:cs typeface="+mj-cs"/>
              </a:rPr>
              <a:t>ออกแบบมาให้ตรวจจับยาก ต้องใช้ </a:t>
            </a:r>
            <a:r>
              <a:rPr lang="en-US" sz="1200" dirty="0">
                <a:cs typeface="+mj-cs"/>
              </a:rPr>
              <a:t>Behavioral Pattern </a:t>
            </a:r>
            <a:r>
              <a:rPr lang="th-TH" sz="1200" dirty="0">
                <a:cs typeface="+mj-cs"/>
              </a:rPr>
              <a:t>แทน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36635F5B-FBE7-85DB-A630-628F3EA2C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5155" y="1079481"/>
            <a:ext cx="334826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cs typeface="+mj-cs"/>
              </a:rPr>
              <a:t>Key Metrics:</a:t>
            </a:r>
            <a:endParaRPr lang="en-US" sz="1100" dirty="0">
              <a:solidFill>
                <a:srgbClr val="FF0000"/>
              </a:solidFill>
              <a:cs typeface="+mj-cs"/>
            </a:endParaRPr>
          </a:p>
          <a:p>
            <a:r>
              <a:rPr lang="en-US" sz="1100" dirty="0">
                <a:cs typeface="+mj-cs"/>
              </a:rPr>
              <a:t>Detection Rate — </a:t>
            </a:r>
            <a:r>
              <a:rPr lang="th-TH" sz="1100" dirty="0">
                <a:cs typeface="+mj-cs"/>
              </a:rPr>
              <a:t>อัตราการตรวจจับ </a:t>
            </a:r>
            <a:r>
              <a:rPr lang="en-US" sz="1100" dirty="0">
                <a:cs typeface="+mj-cs"/>
              </a:rPr>
              <a:t>Mule Account </a:t>
            </a:r>
            <a:r>
              <a:rPr lang="th-TH" sz="1100" dirty="0">
                <a:cs typeface="+mj-cs"/>
              </a:rPr>
              <a:t>จากระบบ</a:t>
            </a:r>
          </a:p>
          <a:p>
            <a:r>
              <a:rPr lang="en-US" sz="1100" dirty="0">
                <a:cs typeface="+mj-cs"/>
              </a:rPr>
              <a:t>False Positive Rate — </a:t>
            </a:r>
            <a:r>
              <a:rPr lang="th-TH" sz="1100" dirty="0">
                <a:cs typeface="+mj-cs"/>
              </a:rPr>
              <a:t>อัตราการระงับธุรกรรมปกติผิดพลาด (เป้า ≤ 1%)</a:t>
            </a:r>
          </a:p>
          <a:p>
            <a:r>
              <a:rPr lang="en-US" sz="1100" dirty="0">
                <a:cs typeface="+mj-cs"/>
              </a:rPr>
              <a:t>Off-hour Transaction Rate — </a:t>
            </a:r>
            <a:r>
              <a:rPr lang="th-TH" sz="1100" dirty="0">
                <a:cs typeface="+mj-cs"/>
              </a:rPr>
              <a:t>สัดส่วนธุรกรรมนอกเวลาทำการ (</a:t>
            </a:r>
            <a:r>
              <a:rPr lang="en-US" sz="1100" dirty="0">
                <a:cs typeface="+mj-cs"/>
              </a:rPr>
              <a:t>Mule = 38%)</a:t>
            </a:r>
          </a:p>
          <a:p>
            <a:r>
              <a:rPr lang="en-US" sz="1100" dirty="0" err="1">
                <a:cs typeface="+mj-cs"/>
              </a:rPr>
              <a:t>Transfer+BillPayment</a:t>
            </a:r>
            <a:r>
              <a:rPr lang="en-US" sz="1100" dirty="0">
                <a:cs typeface="+mj-cs"/>
              </a:rPr>
              <a:t> Ratio — </a:t>
            </a:r>
            <a:r>
              <a:rPr lang="th-TH" sz="1100" dirty="0">
                <a:cs typeface="+mj-cs"/>
              </a:rPr>
              <a:t>สัดส่วน </a:t>
            </a:r>
            <a:r>
              <a:rPr lang="en-US" sz="1100" dirty="0">
                <a:cs typeface="+mj-cs"/>
              </a:rPr>
              <a:t>Mule </a:t>
            </a:r>
            <a:r>
              <a:rPr lang="th-TH" sz="1100" dirty="0">
                <a:cs typeface="+mj-cs"/>
              </a:rPr>
              <a:t>ที่ใช้ </a:t>
            </a:r>
            <a:r>
              <a:rPr lang="en-US" sz="1100" dirty="0">
                <a:cs typeface="+mj-cs"/>
              </a:rPr>
              <a:t>Transfer/Bill Payment (56%)</a:t>
            </a:r>
          </a:p>
          <a:p>
            <a:r>
              <a:rPr lang="en-US" sz="1100" b="1" dirty="0">
                <a:solidFill>
                  <a:srgbClr val="FF0000"/>
                </a:solidFill>
                <a:cs typeface="+mj-cs"/>
              </a:rPr>
              <a:t>Data Sources:</a:t>
            </a:r>
            <a:r>
              <a:rPr lang="en-US" sz="1100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sz="1100" dirty="0">
                <a:cs typeface="+mj-cs"/>
              </a:rPr>
              <a:t>Dataset 1,000 rows </a:t>
            </a:r>
            <a:r>
              <a:rPr lang="th-TH" sz="1100" dirty="0">
                <a:cs typeface="+mj-cs"/>
              </a:rPr>
              <a:t>จาก </a:t>
            </a:r>
            <a:r>
              <a:rPr lang="en-US" sz="1100" dirty="0">
                <a:cs typeface="+mj-cs"/>
              </a:rPr>
              <a:t>Indian Banking Transaction Data (Kaggle) </a:t>
            </a:r>
            <a:r>
              <a:rPr lang="th-TH" sz="1100" dirty="0">
                <a:cs typeface="+mj-cs"/>
              </a:rPr>
              <a:t>แปลงเป็น </a:t>
            </a:r>
            <a:r>
              <a:rPr lang="en-US" sz="1100" dirty="0">
                <a:cs typeface="+mj-cs"/>
              </a:rPr>
              <a:t>USD </a:t>
            </a:r>
            <a:r>
              <a:rPr lang="th-TH" sz="1100" dirty="0">
                <a:cs typeface="+mj-cs"/>
              </a:rPr>
              <a:t>ประกอบด้วย 12 </a:t>
            </a:r>
            <a:r>
              <a:rPr lang="en-US" sz="1100" dirty="0">
                <a:cs typeface="+mj-cs"/>
              </a:rPr>
              <a:t>columns: </a:t>
            </a:r>
            <a:r>
              <a:rPr lang="en-US" sz="1100" dirty="0" err="1">
                <a:cs typeface="+mj-cs"/>
              </a:rPr>
              <a:t>Transaction_ID</a:t>
            </a:r>
            <a:r>
              <a:rPr lang="en-US" sz="1100" dirty="0">
                <a:cs typeface="+mj-cs"/>
              </a:rPr>
              <a:t>, Timestamp, </a:t>
            </a:r>
            <a:r>
              <a:rPr lang="en-US" sz="1100" dirty="0" err="1">
                <a:cs typeface="+mj-cs"/>
              </a:rPr>
              <a:t>Account_ID</a:t>
            </a:r>
            <a:r>
              <a:rPr lang="en-US" sz="1100" dirty="0">
                <a:cs typeface="+mj-cs"/>
              </a:rPr>
              <a:t>, </a:t>
            </a:r>
            <a:r>
              <a:rPr lang="en-US" sz="1100" dirty="0" err="1">
                <a:cs typeface="+mj-cs"/>
              </a:rPr>
              <a:t>Customer_Age</a:t>
            </a:r>
            <a:r>
              <a:rPr lang="en-US" sz="1100" dirty="0">
                <a:cs typeface="+mj-cs"/>
              </a:rPr>
              <a:t>, Gender, Region, </a:t>
            </a:r>
            <a:r>
              <a:rPr lang="en-US" sz="1100" dirty="0" err="1">
                <a:cs typeface="+mj-cs"/>
              </a:rPr>
              <a:t>Transaction_Type</a:t>
            </a:r>
            <a:r>
              <a:rPr lang="en-US" sz="1100" dirty="0">
                <a:cs typeface="+mj-cs"/>
              </a:rPr>
              <a:t>, </a:t>
            </a:r>
            <a:r>
              <a:rPr lang="en-US" sz="1100" dirty="0" err="1">
                <a:cs typeface="+mj-cs"/>
              </a:rPr>
              <a:t>Amount_USD</a:t>
            </a:r>
            <a:r>
              <a:rPr lang="en-US" sz="1100" dirty="0">
                <a:cs typeface="+mj-cs"/>
              </a:rPr>
              <a:t>, </a:t>
            </a:r>
            <a:r>
              <a:rPr lang="en-US" sz="1100" dirty="0" err="1">
                <a:cs typeface="+mj-cs"/>
              </a:rPr>
              <a:t>Post_Tx_Balance</a:t>
            </a:r>
            <a:r>
              <a:rPr lang="en-US" sz="1100" dirty="0">
                <a:cs typeface="+mj-cs"/>
              </a:rPr>
              <a:t>, </a:t>
            </a:r>
            <a:r>
              <a:rPr lang="en-US" sz="1100" dirty="0" err="1">
                <a:cs typeface="+mj-cs"/>
              </a:rPr>
              <a:t>Merchant_Category</a:t>
            </a:r>
            <a:r>
              <a:rPr lang="en-US" sz="1100" dirty="0">
                <a:cs typeface="+mj-cs"/>
              </a:rPr>
              <a:t>, </a:t>
            </a:r>
            <a:r>
              <a:rPr lang="en-US" sz="1100" dirty="0" err="1">
                <a:cs typeface="+mj-cs"/>
              </a:rPr>
              <a:t>Device_Type</a:t>
            </a:r>
            <a:r>
              <a:rPr lang="en-US" sz="1100" dirty="0">
                <a:cs typeface="+mj-cs"/>
              </a:rPr>
              <a:t>, </a:t>
            </a:r>
            <a:r>
              <a:rPr lang="en-US" sz="1100" dirty="0" err="1">
                <a:cs typeface="+mj-cs"/>
              </a:rPr>
              <a:t>Account_Type</a:t>
            </a:r>
            <a:endParaRPr lang="en-US" sz="1100" dirty="0"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1B93D-82BF-B0C2-649D-C2A0BB52864D}"/>
              </a:ext>
            </a:extLst>
          </p:cNvPr>
          <p:cNvSpPr txBox="1"/>
          <p:nvPr/>
        </p:nvSpPr>
        <p:spPr>
          <a:xfrm>
            <a:off x="565007" y="217368"/>
            <a:ext cx="614024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Bank Transaction Fraud Detection </a:t>
            </a:r>
            <a:endParaRPr lang="en-US" dirty="0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01DDE817-4CB0-B409-98B0-99982F79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54351"/>
            <a:ext cx="373033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cs typeface="+mj-cs"/>
              </a:rPr>
              <a:t>Data Preparation:</a:t>
            </a:r>
            <a:endParaRPr lang="en-US" sz="1300" dirty="0">
              <a:solidFill>
                <a:srgbClr val="FF0000"/>
              </a:solidFill>
              <a:cs typeface="+mj-cs"/>
            </a:endParaRPr>
          </a:p>
          <a:p>
            <a:r>
              <a:rPr lang="en-US" sz="1300" dirty="0">
                <a:cs typeface="+mj-cs"/>
              </a:rPr>
              <a:t>Random stratified sample 1,000 rows (Mule 50 / Normal 950) </a:t>
            </a:r>
            <a:r>
              <a:rPr lang="th-TH" sz="1300" dirty="0">
                <a:cs typeface="+mj-cs"/>
              </a:rPr>
              <a:t>จาก 200,000 </a:t>
            </a:r>
            <a:r>
              <a:rPr lang="en-US" sz="1300" dirty="0">
                <a:cs typeface="+mj-cs"/>
              </a:rPr>
              <a:t>rows</a:t>
            </a:r>
          </a:p>
          <a:p>
            <a:r>
              <a:rPr lang="th-TH" sz="1300" dirty="0">
                <a:cs typeface="+mj-cs"/>
              </a:rPr>
              <a:t>แปลงสกุลเงิน </a:t>
            </a:r>
            <a:r>
              <a:rPr lang="en-US" sz="1300" dirty="0">
                <a:cs typeface="+mj-cs"/>
              </a:rPr>
              <a:t>INR → USD (÷83)</a:t>
            </a:r>
          </a:p>
          <a:p>
            <a:r>
              <a:rPr lang="th-TH" sz="1300" dirty="0">
                <a:cs typeface="+mj-cs"/>
              </a:rPr>
              <a:t>ไม่ตัด </a:t>
            </a:r>
            <a:r>
              <a:rPr lang="en-US" sz="1300" dirty="0">
                <a:cs typeface="+mj-cs"/>
              </a:rPr>
              <a:t>outlier </a:t>
            </a:r>
            <a:r>
              <a:rPr lang="th-TH" sz="1300" dirty="0">
                <a:cs typeface="+mj-cs"/>
              </a:rPr>
              <a:t>เพราะ </a:t>
            </a:r>
            <a:r>
              <a:rPr lang="en-US" sz="1300" dirty="0">
                <a:cs typeface="+mj-cs"/>
              </a:rPr>
              <a:t>outlier = fraud signal </a:t>
            </a:r>
            <a:r>
              <a:rPr lang="th-TH" sz="1300" dirty="0">
                <a:cs typeface="+mj-cs"/>
              </a:rPr>
              <a:t>สำคัญ</a:t>
            </a:r>
          </a:p>
          <a:p>
            <a:r>
              <a:rPr lang="en-US" sz="1300" dirty="0">
                <a:cs typeface="+mj-cs"/>
              </a:rPr>
              <a:t>Group Region </a:t>
            </a:r>
            <a:r>
              <a:rPr lang="th-TH" sz="1300" dirty="0">
                <a:cs typeface="+mj-cs"/>
              </a:rPr>
              <a:t>เป็น 5 </a:t>
            </a:r>
            <a:r>
              <a:rPr lang="en-US" sz="1300" dirty="0">
                <a:cs typeface="+mj-cs"/>
              </a:rPr>
              <a:t>India Zones </a:t>
            </a:r>
            <a:r>
              <a:rPr lang="th-TH" sz="1300" dirty="0">
                <a:cs typeface="+mj-cs"/>
              </a:rPr>
              <a:t>เพื่อตอบคำถาม </a:t>
            </a:r>
            <a:r>
              <a:rPr lang="en-US" sz="1300" dirty="0">
                <a:cs typeface="+mj-cs"/>
              </a:rPr>
              <a:t>Where</a:t>
            </a:r>
          </a:p>
          <a:p>
            <a:r>
              <a:rPr lang="en-US" sz="1300" b="1" dirty="0">
                <a:solidFill>
                  <a:srgbClr val="FF0000"/>
                </a:solidFill>
                <a:cs typeface="+mj-cs"/>
              </a:rPr>
              <a:t>Analytical Actions:</a:t>
            </a:r>
            <a:endParaRPr lang="en-US" sz="1300" dirty="0">
              <a:solidFill>
                <a:srgbClr val="FF0000"/>
              </a:solidFill>
              <a:cs typeface="+mj-cs"/>
            </a:endParaRPr>
          </a:p>
          <a:p>
            <a:r>
              <a:rPr lang="en-US" sz="1300" dirty="0">
                <a:cs typeface="+mj-cs"/>
              </a:rPr>
              <a:t>Descriptive EDA </a:t>
            </a:r>
            <a:r>
              <a:rPr lang="th-TH" sz="1300" dirty="0">
                <a:cs typeface="+mj-cs"/>
              </a:rPr>
              <a:t>ด้วย </a:t>
            </a:r>
            <a:r>
              <a:rPr lang="en-US" sz="1300" dirty="0">
                <a:cs typeface="+mj-cs"/>
              </a:rPr>
              <a:t>Tableau </a:t>
            </a:r>
            <a:r>
              <a:rPr lang="th-TH" sz="1300" dirty="0">
                <a:cs typeface="+mj-cs"/>
              </a:rPr>
              <a:t>และ </a:t>
            </a:r>
            <a:r>
              <a:rPr lang="en-US" sz="1300" dirty="0">
                <a:cs typeface="+mj-cs"/>
              </a:rPr>
              <a:t>Python</a:t>
            </a:r>
          </a:p>
          <a:p>
            <a:r>
              <a:rPr lang="en-US" sz="1300" dirty="0">
                <a:cs typeface="+mj-cs"/>
              </a:rPr>
              <a:t>Imbalance Handling </a:t>
            </a:r>
            <a:r>
              <a:rPr lang="th-TH" sz="1300" dirty="0">
                <a:cs typeface="+mj-cs"/>
              </a:rPr>
              <a:t>ด้วย </a:t>
            </a:r>
            <a:r>
              <a:rPr lang="en-US" sz="1300" dirty="0">
                <a:cs typeface="+mj-cs"/>
              </a:rPr>
              <a:t>Log Scale </a:t>
            </a:r>
            <a:r>
              <a:rPr lang="th-TH" sz="1300" dirty="0">
                <a:cs typeface="+mj-cs"/>
              </a:rPr>
              <a:t>และ </a:t>
            </a:r>
            <a:r>
              <a:rPr lang="en-US" sz="1300" dirty="0">
                <a:cs typeface="+mj-cs"/>
              </a:rPr>
              <a:t>Non-aggregated Scatter Plot</a:t>
            </a:r>
          </a:p>
          <a:p>
            <a:r>
              <a:rPr lang="th-TH" sz="1300" dirty="0">
                <a:cs typeface="+mj-cs"/>
              </a:rPr>
              <a:t>คำนวณ </a:t>
            </a:r>
            <a:r>
              <a:rPr lang="en-US" sz="1300" dirty="0">
                <a:cs typeface="+mj-cs"/>
              </a:rPr>
              <a:t>Drain Ratio </a:t>
            </a:r>
            <a:endParaRPr lang="th-TH" sz="1300" dirty="0">
              <a:cs typeface="+mj-cs"/>
            </a:endParaRPr>
          </a:p>
          <a:p>
            <a:r>
              <a:rPr lang="en-US" sz="1300" dirty="0">
                <a:cs typeface="+mj-cs"/>
              </a:rPr>
              <a:t>= </a:t>
            </a:r>
            <a:r>
              <a:rPr lang="en-US" sz="1300" dirty="0" err="1">
                <a:cs typeface="+mj-cs"/>
              </a:rPr>
              <a:t>Amount_USD</a:t>
            </a:r>
            <a:r>
              <a:rPr lang="en-US" sz="1300" dirty="0">
                <a:cs typeface="+mj-cs"/>
              </a:rPr>
              <a:t> / </a:t>
            </a:r>
            <a:r>
              <a:rPr lang="en-US" sz="1300" dirty="0" err="1">
                <a:cs typeface="+mj-cs"/>
              </a:rPr>
              <a:t>Post_Tx_Balance</a:t>
            </a:r>
            <a:endParaRPr lang="en-US" sz="1300" dirty="0">
              <a:cs typeface="+mj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3AE2352-5272-88B8-0281-19FEA8510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981" y="3909849"/>
            <a:ext cx="493629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Transaction Type Pattern: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Mule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ใช้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Bill Payment + Transfer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รวม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56%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ขณะที่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Normal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กระจายเท่ากันทุก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type —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ชี้ให้เห็นพฤติกรรม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"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โอนออก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"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เป็นหลัก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Off-hour Activity: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38%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ของ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Mule transactions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เกิดใน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22:00–06:00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.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นอกเวลาทำการปกติ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Regional Risk: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Northeast India (30%)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และ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North India (26%)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มี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Mule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กระจุกตัวสูงสุด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Camouflage Effect: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Amount median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ของ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Mule ($618.89)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ใกล้เคียง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Normal ($627.33)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มาก ยืนยันว่า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Mule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ถูกออกแบบมาให้ตรวจจับยาก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—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ไม่สามารถใช้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Amount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อย่างเดียวได้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Drain Ratio: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ไม่สามารถแยก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Mule/Normal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ได้ชัดด้วย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Drain Ratio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เพียงอย่างเดียว ต้องใช้ร่วมกับ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behavioral features 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อื่น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069849-2B40-D52F-7285-5C9EEA342535}"/>
              </a:ext>
            </a:extLst>
          </p:cNvPr>
          <p:cNvSpPr txBox="1"/>
          <p:nvPr/>
        </p:nvSpPr>
        <p:spPr>
          <a:xfrm>
            <a:off x="8625789" y="3954351"/>
            <a:ext cx="349142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FF0000"/>
                </a:solidFill>
                <a:cs typeface="+mj-cs"/>
              </a:rPr>
              <a:t>Recommendations (</a:t>
            </a:r>
            <a:r>
              <a:rPr lang="th-TH" sz="1000" b="1" dirty="0">
                <a:solidFill>
                  <a:srgbClr val="FF0000"/>
                </a:solidFill>
                <a:cs typeface="+mj-cs"/>
              </a:rPr>
              <a:t>ข้อเสนอแนะ):</a:t>
            </a:r>
            <a:endParaRPr lang="th-TH" sz="1000" dirty="0">
              <a:solidFill>
                <a:srgbClr val="FF0000"/>
              </a:solidFill>
              <a:cs typeface="+mj-cs"/>
            </a:endParaRPr>
          </a:p>
          <a:p>
            <a:pPr>
              <a:buNone/>
            </a:pPr>
            <a:r>
              <a:rPr lang="th-TH" sz="1000" dirty="0">
                <a:cs typeface="+mj-cs"/>
              </a:rPr>
              <a:t>หากพบธุรกรรมที่มี </a:t>
            </a:r>
            <a:r>
              <a:rPr lang="en-US" sz="1000" dirty="0">
                <a:cs typeface="+mj-cs"/>
              </a:rPr>
              <a:t>Transaction Type </a:t>
            </a:r>
            <a:r>
              <a:rPr lang="th-TH" sz="1000" dirty="0">
                <a:cs typeface="+mj-cs"/>
              </a:rPr>
              <a:t>เป็น </a:t>
            </a:r>
            <a:r>
              <a:rPr lang="en-US" sz="1000" dirty="0">
                <a:cs typeface="+mj-cs"/>
              </a:rPr>
              <a:t>Transfer </a:t>
            </a:r>
            <a:r>
              <a:rPr lang="th-TH" sz="1000" dirty="0">
                <a:cs typeface="+mj-cs"/>
              </a:rPr>
              <a:t>หรือ </a:t>
            </a:r>
            <a:r>
              <a:rPr lang="en-US" sz="1000" dirty="0">
                <a:cs typeface="+mj-cs"/>
              </a:rPr>
              <a:t>Bill Payment </a:t>
            </a:r>
            <a:r>
              <a:rPr lang="th-TH" sz="1000" dirty="0">
                <a:cs typeface="+mj-cs"/>
              </a:rPr>
              <a:t>เกิดขึ้นในช่วงเวลานอกเวลาทำการ (22:00–06:00 น.) ให้ระบบขึ้นสถานะ </a:t>
            </a:r>
            <a:r>
              <a:rPr lang="en-US" sz="1000" dirty="0">
                <a:cs typeface="+mj-cs"/>
              </a:rPr>
              <a:t>Pending Review </a:t>
            </a:r>
            <a:r>
              <a:rPr lang="th-TH" sz="1000" dirty="0">
                <a:cs typeface="+mj-cs"/>
              </a:rPr>
              <a:t>ทันที เนื่องจาก </a:t>
            </a:r>
            <a:r>
              <a:rPr lang="en-US" sz="1000" dirty="0">
                <a:cs typeface="+mj-cs"/>
              </a:rPr>
              <a:t>Mule 38% </a:t>
            </a:r>
            <a:r>
              <a:rPr lang="th-TH" sz="1000" dirty="0">
                <a:cs typeface="+mj-cs"/>
              </a:rPr>
              <a:t>ของทั้งหมดมีพฤติกรรมใช้ช่วงเวลาดังกล่าวในการโอนเงิน</a:t>
            </a:r>
          </a:p>
          <a:p>
            <a:pPr>
              <a:buNone/>
            </a:pPr>
            <a:r>
              <a:rPr lang="th-TH" sz="1000" dirty="0">
                <a:cs typeface="+mj-cs"/>
              </a:rPr>
              <a:t>หากธุรกรรมมาจาก </a:t>
            </a:r>
            <a:r>
              <a:rPr lang="en-US" sz="1000" dirty="0">
                <a:cs typeface="+mj-cs"/>
              </a:rPr>
              <a:t>Region </a:t>
            </a:r>
            <a:r>
              <a:rPr lang="th-TH" sz="1000" dirty="0">
                <a:cs typeface="+mj-cs"/>
              </a:rPr>
              <a:t>ที่อยู่ใน </a:t>
            </a:r>
            <a:r>
              <a:rPr lang="en-US" sz="1000" dirty="0">
                <a:cs typeface="+mj-cs"/>
              </a:rPr>
              <a:t>Northeast </a:t>
            </a:r>
            <a:r>
              <a:rPr lang="th-TH" sz="1000" dirty="0">
                <a:cs typeface="+mj-cs"/>
              </a:rPr>
              <a:t>หรือ </a:t>
            </a:r>
            <a:r>
              <a:rPr lang="en-US" sz="1000" dirty="0">
                <a:cs typeface="+mj-cs"/>
              </a:rPr>
              <a:t>North India </a:t>
            </a:r>
            <a:r>
              <a:rPr lang="th-TH" sz="1000" dirty="0">
                <a:cs typeface="+mj-cs"/>
              </a:rPr>
              <a:t>และมีมูลค่าสูงกว่า $500 ให้ส่งเคสเข้าสู่กระบวนการ </a:t>
            </a:r>
            <a:r>
              <a:rPr lang="en-US" sz="1000" dirty="0">
                <a:cs typeface="+mj-cs"/>
              </a:rPr>
              <a:t>Manual Check </a:t>
            </a:r>
            <a:r>
              <a:rPr lang="th-TH" sz="1000" dirty="0">
                <a:cs typeface="+mj-cs"/>
              </a:rPr>
              <a:t>โดยทีม </a:t>
            </a:r>
            <a:r>
              <a:rPr lang="en-US" sz="1000" dirty="0">
                <a:cs typeface="+mj-cs"/>
              </a:rPr>
              <a:t>Fraud Investigator </a:t>
            </a:r>
            <a:r>
              <a:rPr lang="th-TH" sz="1000" dirty="0">
                <a:cs typeface="+mj-cs"/>
              </a:rPr>
              <a:t>เพราะสองภูมิภาคนี้รวมกันมี </a:t>
            </a:r>
            <a:r>
              <a:rPr lang="en-US" sz="1000" dirty="0">
                <a:cs typeface="+mj-cs"/>
              </a:rPr>
              <a:t>Mule </a:t>
            </a:r>
            <a:r>
              <a:rPr lang="th-TH" sz="1000" dirty="0">
                <a:cs typeface="+mj-cs"/>
              </a:rPr>
              <a:t>กระจุกตัวสูงถึง 56% ของทั้งหมด</a:t>
            </a:r>
          </a:p>
          <a:p>
            <a:pPr>
              <a:buNone/>
            </a:pPr>
            <a:r>
              <a:rPr lang="th-TH" sz="1000" dirty="0">
                <a:cs typeface="+mj-cs"/>
              </a:rPr>
              <a:t>หาก </a:t>
            </a:r>
            <a:r>
              <a:rPr lang="en-US" sz="1000" dirty="0">
                <a:cs typeface="+mj-cs"/>
              </a:rPr>
              <a:t>Drain Ratio </a:t>
            </a:r>
            <a:r>
              <a:rPr lang="th-TH" sz="1000" dirty="0">
                <a:cs typeface="+mj-cs"/>
              </a:rPr>
              <a:t>สูงกว่า 2</a:t>
            </a:r>
            <a:r>
              <a:rPr lang="en-US" sz="1000" dirty="0">
                <a:cs typeface="+mj-cs"/>
              </a:rPr>
              <a:t>x </a:t>
            </a:r>
            <a:r>
              <a:rPr lang="th-TH" sz="1000" dirty="0">
                <a:cs typeface="+mj-cs"/>
              </a:rPr>
              <a:t>ร่วมกับ </a:t>
            </a:r>
            <a:r>
              <a:rPr lang="en-US" sz="1000" dirty="0">
                <a:cs typeface="+mj-cs"/>
              </a:rPr>
              <a:t>Transaction Type </a:t>
            </a:r>
            <a:r>
              <a:rPr lang="th-TH" sz="1000" dirty="0">
                <a:cs typeface="+mj-cs"/>
              </a:rPr>
              <a:t>เป็น </a:t>
            </a:r>
            <a:r>
              <a:rPr lang="en-US" sz="1000" dirty="0">
                <a:cs typeface="+mj-cs"/>
              </a:rPr>
              <a:t>Transfer </a:t>
            </a:r>
            <a:r>
              <a:rPr lang="th-TH" sz="1000" dirty="0">
                <a:cs typeface="+mj-cs"/>
              </a:rPr>
              <a:t>ให้ระงับบัญชีชั่วคราว 24 ชั่วโมงเพื่อรอการตรวจสอบ</a:t>
            </a:r>
          </a:p>
          <a:p>
            <a:pPr>
              <a:buNone/>
            </a:pPr>
            <a:r>
              <a:rPr lang="en-US" sz="1000" b="1" dirty="0">
                <a:solidFill>
                  <a:srgbClr val="FF0000"/>
                </a:solidFill>
                <a:cs typeface="+mj-cs"/>
              </a:rPr>
              <a:t>Trade-off (</a:t>
            </a:r>
            <a:r>
              <a:rPr lang="th-TH" sz="1000" b="1" dirty="0">
                <a:solidFill>
                  <a:srgbClr val="FF0000"/>
                </a:solidFill>
                <a:cs typeface="+mj-cs"/>
              </a:rPr>
              <a:t>ความสมดุล </a:t>
            </a:r>
            <a:r>
              <a:rPr lang="en-US" sz="1000" b="1" dirty="0">
                <a:solidFill>
                  <a:srgbClr val="FF0000"/>
                </a:solidFill>
                <a:cs typeface="+mj-cs"/>
              </a:rPr>
              <a:t>Security vs. Customer Experience):</a:t>
            </a:r>
            <a:endParaRPr lang="en-US" sz="1000" dirty="0">
              <a:solidFill>
                <a:srgbClr val="FF0000"/>
              </a:solidFill>
              <a:cs typeface="+mj-cs"/>
            </a:endParaRPr>
          </a:p>
          <a:p>
            <a:pPr>
              <a:buNone/>
            </a:pPr>
            <a:r>
              <a:rPr lang="th-TH" sz="1000" dirty="0">
                <a:cs typeface="+mj-cs"/>
              </a:rPr>
              <a:t>การตั้ง </a:t>
            </a:r>
            <a:r>
              <a:rPr lang="en-US" sz="1000" dirty="0">
                <a:cs typeface="+mj-cs"/>
              </a:rPr>
              <a:t>Rule </a:t>
            </a:r>
            <a:r>
              <a:rPr lang="th-TH" sz="1000" dirty="0">
                <a:cs typeface="+mj-cs"/>
              </a:rPr>
              <a:t>เข้มงวดเกินไปอาจทำให้ลูกค้าปกติที่โอนเงินในช่วงดึกหรืออยู่ใน </a:t>
            </a:r>
            <a:r>
              <a:rPr lang="en-US" sz="1000" dirty="0">
                <a:cs typeface="+mj-cs"/>
              </a:rPr>
              <a:t>region </a:t>
            </a:r>
            <a:r>
              <a:rPr lang="th-TH" sz="1000" dirty="0">
                <a:cs typeface="+mj-cs"/>
              </a:rPr>
              <a:t>เสี่ยงถูกระงับบัญชีโดยไม่จำเป็น ดังนั้นจึงแนะนำให้ใช้ระบบแบบ </a:t>
            </a:r>
            <a:r>
              <a:rPr lang="en-US" sz="1000" dirty="0">
                <a:cs typeface="+mj-cs"/>
              </a:rPr>
              <a:t>Human-in-the-loop </a:t>
            </a:r>
            <a:r>
              <a:rPr lang="th-TH" sz="1000" dirty="0">
                <a:cs typeface="+mj-cs"/>
              </a:rPr>
              <a:t>คือระบบ </a:t>
            </a:r>
            <a:r>
              <a:rPr lang="en-US" sz="1000" dirty="0">
                <a:cs typeface="+mj-cs"/>
              </a:rPr>
              <a:t>Flag </a:t>
            </a:r>
            <a:r>
              <a:rPr lang="th-TH" sz="1000" dirty="0">
                <a:cs typeface="+mj-cs"/>
              </a:rPr>
              <a:t>ก่อน แล้วให้พนักงาน </a:t>
            </a:r>
            <a:r>
              <a:rPr lang="en-US" sz="1000" dirty="0">
                <a:cs typeface="+mj-cs"/>
              </a:rPr>
              <a:t>Fraud Team </a:t>
            </a:r>
            <a:r>
              <a:rPr lang="th-TH" sz="1000" dirty="0">
                <a:cs typeface="+mj-cs"/>
              </a:rPr>
              <a:t>ตรวจสอบขั้นสุดท้ายก่อน </a:t>
            </a:r>
            <a:r>
              <a:rPr lang="en-US" sz="1000" dirty="0">
                <a:cs typeface="+mj-cs"/>
              </a:rPr>
              <a:t>Freeze </a:t>
            </a:r>
            <a:r>
              <a:rPr lang="th-TH" sz="1000" dirty="0">
                <a:cs typeface="+mj-cs"/>
              </a:rPr>
              <a:t>จริง</a:t>
            </a:r>
          </a:p>
          <a:p>
            <a:pPr>
              <a:buNone/>
            </a:pPr>
            <a:r>
              <a:rPr lang="en-US" sz="1000" b="1" dirty="0">
                <a:solidFill>
                  <a:srgbClr val="FF0000"/>
                </a:solidFill>
                <a:cs typeface="+mj-cs"/>
              </a:rPr>
              <a:t>Impact (</a:t>
            </a:r>
            <a:r>
              <a:rPr lang="th-TH" sz="1000" b="1" dirty="0">
                <a:solidFill>
                  <a:srgbClr val="FF0000"/>
                </a:solidFill>
                <a:cs typeface="+mj-cs"/>
              </a:rPr>
              <a:t>ผลกระทบเชิงบวก):</a:t>
            </a:r>
            <a:endParaRPr lang="th-TH" sz="1000" dirty="0">
              <a:solidFill>
                <a:srgbClr val="FF0000"/>
              </a:solidFill>
              <a:cs typeface="+mj-cs"/>
            </a:endParaRPr>
          </a:p>
          <a:p>
            <a:pPr>
              <a:buNone/>
            </a:pPr>
            <a:r>
              <a:rPr lang="th-TH" sz="1000" dirty="0">
                <a:cs typeface="+mj-cs"/>
              </a:rPr>
              <a:t>ป้องกันเงินทุจริตรวม $31,029 ต่อทุก 1,000 </a:t>
            </a:r>
            <a:r>
              <a:rPr lang="en-US" sz="1000" dirty="0">
                <a:cs typeface="+mj-cs"/>
              </a:rPr>
              <a:t>transactions </a:t>
            </a:r>
            <a:r>
              <a:rPr lang="th-TH" sz="1000" dirty="0">
                <a:cs typeface="+mj-cs"/>
              </a:rPr>
              <a:t>ลดภาระ </a:t>
            </a:r>
            <a:r>
              <a:rPr lang="en-US" sz="1000" dirty="0">
                <a:cs typeface="+mj-cs"/>
              </a:rPr>
              <a:t>Fraud Team </a:t>
            </a:r>
            <a:r>
              <a:rPr lang="th-TH" sz="1000" dirty="0">
                <a:cs typeface="+mj-cs"/>
              </a:rPr>
              <a:t>ให้โฟกัสเฉพาะเคสความเสี่ยงสูง และยกระดับ </a:t>
            </a:r>
            <a:r>
              <a:rPr lang="en-US" sz="1000" dirty="0">
                <a:cs typeface="+mj-cs"/>
              </a:rPr>
              <a:t>AML Compliance </a:t>
            </a:r>
            <a:r>
              <a:rPr lang="th-TH" sz="1000" dirty="0">
                <a:cs typeface="+mj-cs"/>
              </a:rPr>
              <a:t>ของธนาคาร</a:t>
            </a:r>
          </a:p>
        </p:txBody>
      </p:sp>
    </p:spTree>
    <p:extLst>
      <p:ext uri="{BB962C8B-B14F-4D97-AF65-F5344CB8AC3E}">
        <p14:creationId xmlns:p14="http://schemas.microsoft.com/office/powerpoint/2010/main" val="35621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949</Words>
  <Application>Microsoft Office PowerPoint</Application>
  <PresentationFormat>Widescreen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Angsana New</vt:lpstr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Nuwee Wiwatwattana</dc:creator>
  <cp:lastModifiedBy>ปุญญพัฒน์ ฟ่าง</cp:lastModifiedBy>
  <cp:revision>5</cp:revision>
  <dcterms:created xsi:type="dcterms:W3CDTF">2026-01-02T14:12:03Z</dcterms:created>
  <dcterms:modified xsi:type="dcterms:W3CDTF">2026-04-22T09:16:57Z</dcterms:modified>
</cp:coreProperties>
</file>